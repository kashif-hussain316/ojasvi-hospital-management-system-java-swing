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60" r:id="rId2"/>
    <p:sldId id="26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5" r:id="rId11"/>
    <p:sldId id="313" r:id="rId12"/>
    <p:sldId id="314" r:id="rId13"/>
    <p:sldId id="316" r:id="rId14"/>
    <p:sldId id="305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CCFB3D-EA42-3921-04ED-EFC3745E41E3}" v="10" dt="2025-09-08T09:37:30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844" autoAdjust="0"/>
  </p:normalViewPr>
  <p:slideViewPr>
    <p:cSldViewPr snapToGrid="0">
      <p:cViewPr varScale="1">
        <p:scale>
          <a:sx n="76" d="100"/>
          <a:sy n="76" d="100"/>
        </p:scale>
        <p:origin x="294" y="7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12/10/2025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12/10/2025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2C58-172D-4239-9871-4271297B4A6B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90327-35AF-49ED-ACB3-D4557820421A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DB1-DC66-48D2-9CE3-4F751F09D5E1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2BE0-B8B1-4AF1-BE08-C2EFF683B932}" type="datetime1">
              <a:rPr lang="en-US" smtClean="0"/>
              <a:t>12/10/2025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C327-AA57-4529-961D-7636D0AB763F}" type="datetime1">
              <a:rPr lang="en-US" smtClean="0"/>
              <a:t>12/10/2025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13A57-8FE6-43AD-ADA0-472926C14C7A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47CB-C401-4F92-A23F-D9B36B4BEBA5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1D3B-2CF5-4F5C-AB0C-0CEC09E23D6F}" type="datetime1">
              <a:rPr lang="en-US" smtClean="0"/>
              <a:t>12/10/2025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45C5C-27FA-4DD4-A0DE-277AD9FC3D68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6154-3847-41F3-ADD2-61D636DBFDD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DB5618E-A34C-4CF7-9E1F-D70502BBD050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geeksforgeek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29716" y="783121"/>
            <a:ext cx="9601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    </a:t>
            </a:r>
            <a:r>
              <a:rPr lang="en-US" sz="4000" b="1" dirty="0">
                <a:latin typeface="Arial"/>
                <a:cs typeface="Arial"/>
              </a:rPr>
              <a:t>Hospital Management System</a:t>
            </a:r>
            <a:br>
              <a:rPr lang="en-US" dirty="0">
                <a:latin typeface="Arial"/>
                <a:cs typeface="Arial"/>
              </a:rPr>
            </a:br>
            <a:br>
              <a:rPr lang="en-US" sz="2700" dirty="0">
                <a:latin typeface="Arial" pitchFamily="34" charset="0"/>
                <a:cs typeface="Arial" pitchFamily="34" charset="0"/>
              </a:rPr>
            </a:br>
            <a:r>
              <a:rPr lang="en-US" sz="2700" dirty="0">
                <a:latin typeface="Arial" pitchFamily="34" charset="0"/>
                <a:cs typeface="Arial" pitchFamily="34" charset="0"/>
              </a:rPr>
              <a:t>         </a:t>
            </a:r>
            <a:r>
              <a:rPr lang="en-US" sz="2700" dirty="0">
                <a:latin typeface="Arial"/>
                <a:cs typeface="Arial"/>
              </a:rPr>
              <a:t>OOTs Using JAVA (BCSE0352)</a:t>
            </a:r>
            <a:endParaRPr lang="en-US" sz="2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13892" y="1412775"/>
            <a:ext cx="8617024" cy="410724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r>
              <a:rPr lang="en-US" sz="1600" b="1" dirty="0">
                <a:latin typeface="Arial"/>
                <a:cs typeface="Arial"/>
              </a:rPr>
              <a:t>Department of Computer Science and Engineering </a:t>
            </a:r>
          </a:p>
          <a:p>
            <a:pPr marL="0" indent="0" algn="ctr">
              <a:buNone/>
            </a:pPr>
            <a:r>
              <a:rPr lang="en-US" sz="1600" b="1" dirty="0">
                <a:latin typeface="Arial"/>
                <a:cs typeface="Arial"/>
              </a:rPr>
              <a:t>Data Science</a:t>
            </a:r>
          </a:p>
          <a:p>
            <a:pPr marL="0" lvl="0" indent="0" algn="ctr">
              <a:buNone/>
            </a:pPr>
            <a:r>
              <a:rPr lang="en-US" dirty="0">
                <a:latin typeface="Arial"/>
                <a:cs typeface="Arial"/>
              </a:rPr>
              <a:t>(Submitted To: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Mr. Chandrapal Singh Arya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 marL="0" lv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r>
              <a:rPr lang="en-US" dirty="0"/>
              <a:t>Group Members</a:t>
            </a:r>
          </a:p>
          <a:p>
            <a:pPr marL="0" lvl="0" indent="0" algn="ctr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438335"/>
              </p:ext>
            </p:extLst>
          </p:nvPr>
        </p:nvGraphicFramePr>
        <p:xfrm>
          <a:off x="1921160" y="3315397"/>
          <a:ext cx="8346504" cy="2926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5643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2008333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2779338">
                  <a:extLst>
                    <a:ext uri="{9D8B030D-6E8A-4147-A177-3AD203B41FA5}">
                      <a16:colId xmlns:a16="http://schemas.microsoft.com/office/drawing/2014/main" val="985814749"/>
                    </a:ext>
                  </a:extLst>
                </a:gridCol>
                <a:gridCol w="1973190">
                  <a:extLst>
                    <a:ext uri="{9D8B030D-6E8A-4147-A177-3AD203B41FA5}">
                      <a16:colId xmlns:a16="http://schemas.microsoft.com/office/drawing/2014/main" val="2731764778"/>
                    </a:ext>
                  </a:extLst>
                </a:gridCol>
              </a:tblGrid>
              <a:tr h="45380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Department n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64065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KASHIF HUSSAIN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2401331540136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Architecture &amp; Backend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Data Science</a:t>
                      </a:r>
                    </a:p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Sec-B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39081"/>
                  </a:ext>
                </a:extLst>
              </a:tr>
              <a:tr h="453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GAURAV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2401331540115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 Management &amp;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Data Science</a:t>
                      </a:r>
                    </a:p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Sec-B</a:t>
                      </a:r>
                    </a:p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80534"/>
                  </a:ext>
                </a:extLst>
              </a:tr>
              <a:tr h="453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DEENDAYAL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2401331540097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 Design &amp; GUI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Data Science</a:t>
                      </a:r>
                    </a:p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Sec-B</a:t>
                      </a:r>
                    </a:p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8205"/>
                  </a:ext>
                </a:extLst>
              </a:tr>
              <a:tr h="280704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086947"/>
                  </a:ext>
                </a:extLst>
              </a:tr>
            </a:tbl>
          </a:graphicData>
        </a:graphic>
      </p:graphicFrame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D30C3A-395C-C608-9DE6-FE457955F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48604"/>
            <a:ext cx="2209800" cy="9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Arial" pitchFamily="34" charset="0"/>
                <a:cs typeface="Arial" pitchFamily="34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595120"/>
            <a:ext cx="9601200" cy="472948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Literature Survey/Existing System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Problem Statement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Proposed Methodology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Flowcharts and Use Case/ER Diagrams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Feasibility Study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Hardware /Software Requirement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Live Demonstration of Project with screenshots in ppt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Results and Conclusion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Future Enhancement</a:t>
            </a:r>
          </a:p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72" y="4316730"/>
            <a:ext cx="2720340" cy="2266950"/>
          </a:xfrm>
          <a:prstGeom prst="rect">
            <a:avLst/>
          </a:prstGeom>
        </p:spPr>
      </p:pic>
      <p:pic>
        <p:nvPicPr>
          <p:cNvPr id="6" name="Picture 5" descr="A black and red logo&#10;&#10;Description automatically generated">
            <a:extLst>
              <a:ext uri="{FF2B5EF4-FFF2-40B4-BE49-F238E27FC236}">
                <a16:creationId xmlns:a16="http://schemas.microsoft.com/office/drawing/2014/main" id="{7C926767-A74E-A7DF-D260-550093B8E4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58764"/>
            <a:ext cx="2209800" cy="9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Arial" pitchFamily="34" charset="0"/>
                <a:cs typeface="Arial" pitchFamily="34" charset="0"/>
              </a:rPr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88989-E3D8-0393-C3E8-3E4D8DF6D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4" y="1676400"/>
            <a:ext cx="4645152" cy="4439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Overview: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Java-based desktop app using Swing GUI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Manages hospital operations digitally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Modules for patients, doctors, billing &amp; more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Digitalize hospital records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Automate appointments &amp; billing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Simplify prescriptions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Enhance data security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 efficiency &amp; patient care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23F8FC-0D75-2B1D-FDD9-C67F9FD92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640" y="1676400"/>
            <a:ext cx="4732973" cy="4439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Scope: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Suitable for hospitals, clinics, healthcare centers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Covers: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Patient Management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Doctor Management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Appointments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Prescriptions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Billing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Highlights:</a:t>
            </a:r>
            <a:b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User-friendly interface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Real-time data handling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Dashboard with live stats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Secure &amp; reliable operations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E3441A38-6CCF-B42B-A456-E7CBD2DA5F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pic>
        <p:nvPicPr>
          <p:cNvPr id="11" name="Picture 10" descr="A hospital building with a red cross&#10;&#10;AI-generated content may be incorrect.">
            <a:extLst>
              <a:ext uri="{FF2B5EF4-FFF2-40B4-BE49-F238E27FC236}">
                <a16:creationId xmlns:a16="http://schemas.microsoft.com/office/drawing/2014/main" id="{D7AE65C9-0F02-F2C6-D03D-00BC08F5E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415" y="3248766"/>
            <a:ext cx="2143125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548A-E0F2-23AA-FAD5-FE86B05A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995554-C8CB-9855-282B-5293BC46A2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Overview: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Study of existing hospital management systems.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Identifies gaps and improvement areas.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Systems Observed: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record keeping is still common.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Poor integration between patient and billing modules.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Limited user-friendly designs.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Weak data security in many systems.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AADFE4-F019-DD3F-4209-23A7F359C6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for a unified, digital hospital system.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Should include appointment, prescription &amp; billing modules.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ensure fast access and strong data security.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Ojasvi Hospital Management System aims to fill these gaps by offering 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integrated, secure, and efficient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solution.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red logo&#10;&#10;Description automatically generated">
            <a:extLst>
              <a:ext uri="{FF2B5EF4-FFF2-40B4-BE49-F238E27FC236}">
                <a16:creationId xmlns:a16="http://schemas.microsoft.com/office/drawing/2014/main" id="{B5B4E60F-0CC9-0B91-75B7-D7E39F4270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460" y="533400"/>
            <a:ext cx="2209800" cy="947268"/>
          </a:xfrm>
          <a:prstGeom prst="rect">
            <a:avLst/>
          </a:prstGeom>
        </p:spPr>
      </p:pic>
      <p:pic>
        <p:nvPicPr>
          <p:cNvPr id="14" name="Picture 13" descr="A cartoon of a book&#10;&#10;AI-generated content may be incorrect.">
            <a:extLst>
              <a:ext uri="{FF2B5EF4-FFF2-40B4-BE49-F238E27FC236}">
                <a16:creationId xmlns:a16="http://schemas.microsoft.com/office/drawing/2014/main" id="{5BB0E57B-2A2A-1267-4E47-95E930CCF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476" y="2628901"/>
            <a:ext cx="1428748" cy="80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611B-CD28-BE85-F903-CE1BAB9F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3E19AB-C6DB-75B0-AC86-A85849B95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5463" y="1828800"/>
            <a:ext cx="4645152" cy="328168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Scenario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Most hospitals still use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manual systems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for record-keeping.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Managing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patient data, doctor schedules, and billing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time-consuming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Errors often occur due to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paper-based entries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data duplication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Lack of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between departments causes delays and inefficiency.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Difficulty in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retrieving past records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and maintaining data security.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2766F85-0BC5-C871-763A-38642B660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328168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 Problems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❌ Inefficient and slow hospital operations.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❌ Poor coordination between patients, doctors, and staff.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❌ High chances of data loss or inconsistency.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❌ Manual billing and prescription handling cause confusion.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❌ Limited accessibility of patient information.</a:t>
            </a:r>
          </a:p>
          <a:p>
            <a:endParaRPr lang="en-US" dirty="0"/>
          </a:p>
        </p:txBody>
      </p:sp>
      <p:pic>
        <p:nvPicPr>
          <p:cNvPr id="4" name="Picture 3" descr="A black and red logo&#10;&#10;Description automatically generated">
            <a:extLst>
              <a:ext uri="{FF2B5EF4-FFF2-40B4-BE49-F238E27FC236}">
                <a16:creationId xmlns:a16="http://schemas.microsoft.com/office/drawing/2014/main" id="{27E57AC1-26EB-5C12-872D-AF21B749D9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660" y="641426"/>
            <a:ext cx="2209800" cy="9472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85A328-FDDF-588D-5B56-CF032F59D324}"/>
              </a:ext>
            </a:extLst>
          </p:cNvPr>
          <p:cNvSpPr txBox="1"/>
          <p:nvPr/>
        </p:nvSpPr>
        <p:spPr>
          <a:xfrm>
            <a:off x="1984692" y="5401270"/>
            <a:ext cx="8981440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/>
                </a:solidFill>
              </a:rPr>
              <a:t>Goal:</a:t>
            </a:r>
          </a:p>
          <a:p>
            <a:pPr>
              <a:buNone/>
            </a:pPr>
            <a:r>
              <a:rPr lang="en-US" dirty="0"/>
              <a:t>To design a </a:t>
            </a:r>
            <a:r>
              <a:rPr lang="en-US" b="1" dirty="0"/>
              <a:t>digital, secure, and integrated Hospital Management System</a:t>
            </a:r>
            <a:r>
              <a:rPr lang="en-US" dirty="0"/>
              <a:t> that automates all major hospital operations and improves overall efficiency.</a:t>
            </a:r>
          </a:p>
        </p:txBody>
      </p:sp>
    </p:spTree>
    <p:extLst>
      <p:ext uri="{BB962C8B-B14F-4D97-AF65-F5344CB8AC3E}">
        <p14:creationId xmlns:p14="http://schemas.microsoft.com/office/powerpoint/2010/main" val="247117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BA9B-7007-4633-631A-F3F53323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D1C3-B507-6430-D879-CAE8DDB6E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7752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Design Approach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system is developed using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Java Swing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for GUI and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File Handling / Database (if added)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for data storage.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Follows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Object-Oriented Programming (OOP)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principles for modularity.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module (Patient, Doctor, Appointment, Billing) is designed as a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separate class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for better structure.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Implements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Event Handling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for all user actions (buttons, menus, etc.).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Emphasizes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user-friendly navigation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clean UI design.</a:t>
            </a:r>
          </a:p>
          <a:p>
            <a:pPr marL="0" indent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💡 Highlights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Modular, Reusable, and Scalable structure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GUI-based user interaction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Fast and secure data processing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7E02B-D661-3E85-2AC1-2C1328D06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Phases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Requirement Analysis:</a:t>
            </a:r>
            <a:r>
              <a:rPr lang="en-US" dirty="0"/>
              <a:t>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Identified hospital management needs and core features.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Design:</a:t>
            </a:r>
            <a:r>
              <a:rPr lang="en-US" dirty="0"/>
              <a:t>🧩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Created interface layouts and module flow diagrams.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Implementation:</a:t>
            </a:r>
            <a:r>
              <a:rPr lang="en-US" dirty="0"/>
              <a:t>💻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Developed using Java, Swing, and OOP concepts.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Testing:</a:t>
            </a:r>
            <a:r>
              <a:rPr lang="en-US" dirty="0"/>
              <a:t>🧪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Verified functionality of each module and removed errors.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Deployment:</a:t>
            </a:r>
            <a:r>
              <a:rPr lang="en-US" dirty="0"/>
              <a:t>🚀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application ready for hospital or clinic use.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red logo&#10;&#10;Description automatically generated">
            <a:extLst>
              <a:ext uri="{FF2B5EF4-FFF2-40B4-BE49-F238E27FC236}">
                <a16:creationId xmlns:a16="http://schemas.microsoft.com/office/drawing/2014/main" id="{4B42BA79-4954-9885-8B4D-6F1487A081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460" y="533400"/>
            <a:ext cx="2209800" cy="9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9120-8941-A67A-1382-C505B02D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Flowchart and ER Diagrams</a:t>
            </a:r>
          </a:p>
        </p:txBody>
      </p:sp>
      <p:pic>
        <p:nvPicPr>
          <p:cNvPr id="4" name="Picture 3" descr="A black and red logo&#10;&#10;Description automatically generated">
            <a:extLst>
              <a:ext uri="{FF2B5EF4-FFF2-40B4-BE49-F238E27FC236}">
                <a16:creationId xmlns:a16="http://schemas.microsoft.com/office/drawing/2014/main" id="{6F1B78AC-DEF4-2007-DA7C-DC69215C6F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348" y="533400"/>
            <a:ext cx="2209800" cy="947268"/>
          </a:xfrm>
          <a:prstGeom prst="rect">
            <a:avLst/>
          </a:prstGeom>
        </p:spPr>
      </p:pic>
      <p:pic>
        <p:nvPicPr>
          <p:cNvPr id="8" name="Content Placeholder 7" descr="A diagram of a medical procedure">
            <a:extLst>
              <a:ext uri="{FF2B5EF4-FFF2-40B4-BE49-F238E27FC236}">
                <a16:creationId xmlns:a16="http://schemas.microsoft.com/office/drawing/2014/main" id="{AFB60D88-7B5E-EE5C-A8D7-FC54BD7DC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98880" y="1676400"/>
            <a:ext cx="4895532" cy="484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diagram of a patient">
            <a:extLst>
              <a:ext uri="{FF2B5EF4-FFF2-40B4-BE49-F238E27FC236}">
                <a16:creationId xmlns:a16="http://schemas.microsoft.com/office/drawing/2014/main" id="{7B142CE6-0BD3-A05F-0281-146631CAE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2" y="1676400"/>
            <a:ext cx="4684712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4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5AD8F-6699-4597-C94D-42DF4562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1E5D8-68D1-AE5E-C428-71862C9FF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3190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500" b="1" dirty="0"/>
              <a:t>1️⃣ </a:t>
            </a:r>
            <a:r>
              <a:rPr lang="en-US" sz="25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Feasibility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Developed using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Java Swing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for GUI and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OOP concepts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for logic.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Compatible with all major operating systems.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Requires only a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basic computer system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with Java installed.</a:t>
            </a:r>
          </a:p>
          <a:p>
            <a:pPr marL="0" indent="0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2️⃣ </a:t>
            </a:r>
            <a:r>
              <a:rPr lang="en-US" sz="25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Feasibility:</a:t>
            </a:r>
            <a:endParaRPr lang="en-US" sz="25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Simplifies hospital tasks through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easy navigation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Reduces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manual effort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human errors.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Improves communication between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doctors, staff, and patients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7CEFB-F442-18F3-1FFF-FB0701F635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lang="en-US" sz="27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Economic Feasibility:</a:t>
            </a:r>
            <a:endParaRPr lang="en-US" sz="27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Cost-effective as it uses </a:t>
            </a: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open-source tools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(Java).</a:t>
            </a: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Reduces long-term cost of </a:t>
            </a: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paperwork and data management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4️⃣ </a:t>
            </a:r>
            <a:r>
              <a:rPr lang="en-US" sz="2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Feasibility:</a:t>
            </a:r>
            <a:endParaRPr lang="en-US" sz="2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Fast development cycle using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modular structure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Can be implemented in a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short time frame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with future scalability.</a:t>
            </a:r>
          </a:p>
          <a:p>
            <a:pPr marL="0" indent="0">
              <a:buNone/>
            </a:pPr>
            <a:r>
              <a:rPr lang="en-US" sz="23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5️⃣ Social Feasibility:</a:t>
            </a:r>
            <a:endParaRPr lang="en-US" sz="23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Enhances hospital services, benefiting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patients and staff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Promotes digital adoption and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environment-friendly operations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red logo&#10;&#10;Description automatically generated">
            <a:extLst>
              <a:ext uri="{FF2B5EF4-FFF2-40B4-BE49-F238E27FC236}">
                <a16:creationId xmlns:a16="http://schemas.microsoft.com/office/drawing/2014/main" id="{D881FCF2-F0E2-020D-6B4F-66B6060943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067" y="533400"/>
            <a:ext cx="2209800" cy="947268"/>
          </a:xfrm>
          <a:prstGeom prst="rect">
            <a:avLst/>
          </a:prstGeom>
        </p:spPr>
      </p:pic>
      <p:pic>
        <p:nvPicPr>
          <p:cNvPr id="9" name="Picture 8" descr="A blue and orange balance scale&#10;&#10;AI-generated content may be incorrect.">
            <a:extLst>
              <a:ext uri="{FF2B5EF4-FFF2-40B4-BE49-F238E27FC236}">
                <a16:creationId xmlns:a16="http://schemas.microsoft.com/office/drawing/2014/main" id="{4B8A1A6C-CA8C-BE98-DE7A-F2AEB138C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990" y="4883286"/>
            <a:ext cx="2039432" cy="171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9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A588-2449-FEEB-3AA9-8D18044C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0399-A2B4-F442-816A-0FE73B36CA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Requirements</a:t>
            </a:r>
          </a:p>
          <a:p>
            <a:pPr lvl="1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Processor: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Intel Core i3 or above</a:t>
            </a:r>
          </a:p>
          <a:p>
            <a:pPr lvl="1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RAM: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Minimum 4 GB (Recommended 8 GB)</a:t>
            </a:r>
          </a:p>
          <a:p>
            <a:pPr lvl="1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Storage: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500 MB free space (for application &amp; files)</a:t>
            </a:r>
          </a:p>
          <a:p>
            <a:pPr lvl="1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Display: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1366×768 resolution or higher</a:t>
            </a:r>
          </a:p>
          <a:p>
            <a:pPr lvl="1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Input Devices: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Keyboard &amp; Mouse</a:t>
            </a:r>
          </a:p>
          <a:p>
            <a:pPr lvl="1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Operating System: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Windows / macOS / Linux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82E20-DD41-AF05-0D1D-DD6C58BF4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5412" y="1828799"/>
            <a:ext cx="4648201" cy="409534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Requirements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Programming Language: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Java (JDK 8 or above)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IDE Used: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NetBeans / Eclipse / IntelliJ IDEA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Libraries &amp; Tools: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 Swing (for GUI)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FlatLaf (for modern UI design)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Database (optional):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MySQL / File Handling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Platform: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Java Virtual Machine (JVM)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Documentation Tool: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MS Word / Google Docs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red logo&#10;&#10;Description automatically generated">
            <a:extLst>
              <a:ext uri="{FF2B5EF4-FFF2-40B4-BE49-F238E27FC236}">
                <a16:creationId xmlns:a16="http://schemas.microsoft.com/office/drawing/2014/main" id="{A51ED0B4-BCDA-4A5A-7AE3-381E5D1259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284" y="548802"/>
            <a:ext cx="2209800" cy="94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771CBC-DD36-02B3-4AE6-3733F7D1769A}"/>
              </a:ext>
            </a:extLst>
          </p:cNvPr>
          <p:cNvSpPr txBox="1"/>
          <p:nvPr/>
        </p:nvSpPr>
        <p:spPr>
          <a:xfrm>
            <a:off x="1760706" y="4971871"/>
            <a:ext cx="4990290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Note: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project runs efficiently on any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standard laptop or desktop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Java installed and does not require high-end hardware.</a:t>
            </a:r>
          </a:p>
        </p:txBody>
      </p:sp>
    </p:spTree>
    <p:extLst>
      <p:ext uri="{BB962C8B-B14F-4D97-AF65-F5344CB8AC3E}">
        <p14:creationId xmlns:p14="http://schemas.microsoft.com/office/powerpoint/2010/main" val="183606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208F-92EE-459B-FF9C-FB1D82966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Live Demonstration</a:t>
            </a:r>
          </a:p>
        </p:txBody>
      </p:sp>
      <p:pic>
        <p:nvPicPr>
          <p:cNvPr id="4" name="Picture 3" descr="A black and red logo&#10;&#10;Description automatically generated">
            <a:extLst>
              <a:ext uri="{FF2B5EF4-FFF2-40B4-BE49-F238E27FC236}">
                <a16:creationId xmlns:a16="http://schemas.microsoft.com/office/drawing/2014/main" id="{0B28A064-3E1A-2FC4-D68A-89AD8B0760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7276" y="533400"/>
            <a:ext cx="2209800" cy="9472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7E2E17-E319-FD88-643E-7363FE24A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461" y="1728554"/>
            <a:ext cx="3432873" cy="23987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DB93CB-889E-AC61-4875-F451BA3D4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958" y="1728553"/>
            <a:ext cx="3530118" cy="23987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906A26-3B7E-5EA9-60E8-E20F49334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74" y="4179471"/>
            <a:ext cx="3410739" cy="23987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4B52802-AE84-9ECA-7F40-2AAF80570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460" y="4179469"/>
            <a:ext cx="3410739" cy="24455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306E86C-9A4E-BF47-7032-83931DB7B2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6958" y="4226074"/>
            <a:ext cx="3530118" cy="2352379"/>
          </a:xfrm>
          <a:prstGeom prst="rect">
            <a:avLst/>
          </a:prstGeom>
        </p:spPr>
      </p:pic>
      <p:pic>
        <p:nvPicPr>
          <p:cNvPr id="30" name="Content Placeholder 29">
            <a:extLst>
              <a:ext uri="{FF2B5EF4-FFF2-40B4-BE49-F238E27FC236}">
                <a16:creationId xmlns:a16="http://schemas.microsoft.com/office/drawing/2014/main" id="{25F308B5-F373-7758-96E6-DCA2EA1DC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703674" y="1676400"/>
            <a:ext cx="3410738" cy="248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6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C8F0-228B-458B-9D29-DA322FE9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Result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DE7AB-FD01-DA54-0565-D53DD6A4C0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💻</a:t>
            </a:r>
            <a:r>
              <a:rPr lang="en-US" b="1" dirty="0"/>
              <a:t> </a:t>
            </a: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Successfully developed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Java-based Hospital Management System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Swing GUI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Implemented modules for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Patients, Doctors, Appointments, Prescriptions, and Billing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system provides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user-friendly interface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real-time data handling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Ensures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secure storage and quick access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hospital records.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Demonstrates the application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Object-Oriented Programming (OOP)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concepts effectively.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57777-CD0A-96C1-9FE0-6267B627AC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🎯</a:t>
            </a:r>
            <a: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project achieves its goal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automating hospital operations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minimizing manual effort.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improves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efficiency, accuracy, and data security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 hospital management.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system can be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expanded in the future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with database integration, reporting tools, and cloud connectivity.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Overall, it provides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reliable, efficient, and scalable solution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 modern healthcare management.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red logo&#10;&#10;Description automatically generated">
            <a:extLst>
              <a:ext uri="{FF2B5EF4-FFF2-40B4-BE49-F238E27FC236}">
                <a16:creationId xmlns:a16="http://schemas.microsoft.com/office/drawing/2014/main" id="{07C96B4B-9B2D-9846-ADAB-EDF3AAE880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732" y="533400"/>
            <a:ext cx="2209800" cy="9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4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98CDF83-7398-2C80-9328-99ADCBE7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Future Enhancement</a:t>
            </a:r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B1F2F130-F2E9-1ECD-02B5-39C089B8F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792615"/>
              </p:ext>
            </p:extLst>
          </p:nvPr>
        </p:nvGraphicFramePr>
        <p:xfrm>
          <a:off x="749030" y="1828799"/>
          <a:ext cx="10739334" cy="4861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9778">
                  <a:extLst>
                    <a:ext uri="{9D8B030D-6E8A-4147-A177-3AD203B41FA5}">
                      <a16:colId xmlns:a16="http://schemas.microsoft.com/office/drawing/2014/main" val="2876039050"/>
                    </a:ext>
                  </a:extLst>
                </a:gridCol>
                <a:gridCol w="3579778">
                  <a:extLst>
                    <a:ext uri="{9D8B030D-6E8A-4147-A177-3AD203B41FA5}">
                      <a16:colId xmlns:a16="http://schemas.microsoft.com/office/drawing/2014/main" val="2729300338"/>
                    </a:ext>
                  </a:extLst>
                </a:gridCol>
                <a:gridCol w="3579778">
                  <a:extLst>
                    <a:ext uri="{9D8B030D-6E8A-4147-A177-3AD203B41FA5}">
                      <a16:colId xmlns:a16="http://schemas.microsoft.com/office/drawing/2014/main" val="112013673"/>
                    </a:ext>
                  </a:extLst>
                </a:gridCol>
              </a:tblGrid>
              <a:tr h="4776281">
                <a:tc>
                  <a:txBody>
                    <a:bodyPr/>
                    <a:lstStyle/>
                    <a:p>
                      <a:r>
                        <a:rPr lang="en-US" sz="2000" dirty="0"/>
                        <a:t>💻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Improvements</a:t>
                      </a:r>
                    </a:p>
                    <a:p>
                      <a:endParaRPr 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Integrate a </a:t>
                      </a:r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centralized database (MySQL / Oracle)</a:t>
                      </a: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secure data storage.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</a:t>
                      </a:r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support</a:t>
                      </a: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online hospital access from any location.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 </a:t>
                      </a:r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role-based login</a:t>
                      </a: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Admin, Doctor, and Receptionist.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Introduce </a:t>
                      </a:r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automated report generation</a:t>
                      </a: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(patient history, revenue, etc.).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🤖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 Features</a:t>
                      </a:r>
                    </a:p>
                    <a:p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 a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 application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patients and doctors.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email/SMS notifications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appointments and billing.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Integrate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AI-based diagnosis suggestions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doctors.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Enable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payment gateways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billing and fees.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analytics and dashboards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performance tracking.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📊</a:t>
                      </a:r>
                      <a:r>
                        <a:rPr lang="en-US" b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Long-Term Vision</a:t>
                      </a:r>
                    </a:p>
                    <a:p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 into a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digital hospital ecosystem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Enable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multi-branch hospital management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under one system.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Ensure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synchronization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between hospital departments.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882554"/>
                  </a:ext>
                </a:extLst>
              </a:tr>
            </a:tbl>
          </a:graphicData>
        </a:graphic>
      </p:graphicFrame>
      <p:pic>
        <p:nvPicPr>
          <p:cNvPr id="23" name="Picture 22" descr="A black and red logo&#10;&#10;Description automatically generated">
            <a:extLst>
              <a:ext uri="{FF2B5EF4-FFF2-40B4-BE49-F238E27FC236}">
                <a16:creationId xmlns:a16="http://schemas.microsoft.com/office/drawing/2014/main" id="{9EB28BD1-0963-CEBE-7BF0-1D14086955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564" y="533400"/>
            <a:ext cx="2209800" cy="9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0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F0171-1B08-FDB6-AA30-E11D5AD7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15E0F-1BC1-5E2C-AB3D-3C64418A4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Java: The Complete Reference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Herbert Schildt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Object-Oriented Programming with Java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E. Balagurusamy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W3Schools – Java Tutorials</a:t>
            </a: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GeeksforGeeks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– Java &amp; Swing Examples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Oracle Java Documentation</a:t>
            </a:r>
          </a:p>
          <a:p>
            <a:endParaRPr lang="en-US" dirty="0"/>
          </a:p>
        </p:txBody>
      </p:sp>
      <p:pic>
        <p:nvPicPr>
          <p:cNvPr id="4" name="Picture 3" descr="A black and red logo&#10;&#10;Description automatically generated">
            <a:extLst>
              <a:ext uri="{FF2B5EF4-FFF2-40B4-BE49-F238E27FC236}">
                <a16:creationId xmlns:a16="http://schemas.microsoft.com/office/drawing/2014/main" id="{68DB1762-0010-A194-4430-A4E4AED276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466" y="533400"/>
            <a:ext cx="2209800" cy="947268"/>
          </a:xfrm>
          <a:prstGeom prst="rect">
            <a:avLst/>
          </a:prstGeom>
        </p:spPr>
      </p:pic>
      <p:pic>
        <p:nvPicPr>
          <p:cNvPr id="6" name="Picture 5" descr="A green logo with a white background&#10;&#10;AI-generated content may be incorrect.">
            <a:extLst>
              <a:ext uri="{FF2B5EF4-FFF2-40B4-BE49-F238E27FC236}">
                <a16:creationId xmlns:a16="http://schemas.microsoft.com/office/drawing/2014/main" id="{E14EEBCC-E481-5B43-2471-5E89518A4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454" y="2225809"/>
            <a:ext cx="2143125" cy="1344241"/>
          </a:xfrm>
          <a:prstGeom prst="rect">
            <a:avLst/>
          </a:prstGeom>
        </p:spPr>
      </p:pic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5DCE8DF9-1399-D9AA-922D-4A2A9768B1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453" y="3151762"/>
            <a:ext cx="2057400" cy="2057400"/>
          </a:xfrm>
          <a:prstGeom prst="rect">
            <a:avLst/>
          </a:prstGeom>
        </p:spPr>
      </p:pic>
      <p:pic>
        <p:nvPicPr>
          <p:cNvPr id="10" name="Picture 9" descr="A red oval shaped logo&#10;&#10;AI-generated content may be incorrect.">
            <a:extLst>
              <a:ext uri="{FF2B5EF4-FFF2-40B4-BE49-F238E27FC236}">
                <a16:creationId xmlns:a16="http://schemas.microsoft.com/office/drawing/2014/main" id="{FCAD2F0C-9DF2-DCCD-0D9E-89CC32E306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829" y="4416763"/>
            <a:ext cx="16097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616808" y="2735904"/>
            <a:ext cx="7101124" cy="138619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GB" sz="8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 descr="A black and red logo&#10;&#10;Description automatically generated">
            <a:extLst>
              <a:ext uri="{FF2B5EF4-FFF2-40B4-BE49-F238E27FC236}">
                <a16:creationId xmlns:a16="http://schemas.microsoft.com/office/drawing/2014/main" id="{0DE839A9-9764-158A-D897-5E6A060612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930" y="543127"/>
            <a:ext cx="2209800" cy="947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600</TotalTime>
  <Words>1147</Words>
  <Application>Microsoft Office PowerPoint</Application>
  <PresentationFormat>Custom</PresentationFormat>
  <Paragraphs>196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굴림</vt:lpstr>
      <vt:lpstr>Arial</vt:lpstr>
      <vt:lpstr>Century Gothic</vt:lpstr>
      <vt:lpstr>Times New Roman</vt:lpstr>
      <vt:lpstr>Wingdings</vt:lpstr>
      <vt:lpstr>Vertical and Horizontal design template</vt:lpstr>
      <vt:lpstr>    Hospital Management System           OOTs Using JAVA (BCSE0352)</vt:lpstr>
      <vt:lpstr>Index</vt:lpstr>
      <vt:lpstr>Introduction</vt:lpstr>
      <vt:lpstr>Literature Survey</vt:lpstr>
      <vt:lpstr>Problem Statement</vt:lpstr>
      <vt:lpstr>Proposed Methodology</vt:lpstr>
      <vt:lpstr>Flowchart and ER Diagrams</vt:lpstr>
      <vt:lpstr>Feasibility Study</vt:lpstr>
      <vt:lpstr>System Requirements</vt:lpstr>
      <vt:lpstr>Live Demonstration</vt:lpstr>
      <vt:lpstr>Result and Conclusion</vt:lpstr>
      <vt:lpstr>Future Enhancement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Kashif Hussain</cp:lastModifiedBy>
  <cp:revision>13</cp:revision>
  <dcterms:created xsi:type="dcterms:W3CDTF">2017-11-16T17:39:44Z</dcterms:created>
  <dcterms:modified xsi:type="dcterms:W3CDTF">2025-12-10T04:24:59Z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